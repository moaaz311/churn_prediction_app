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F9F"/>
          </a:solidFill>
          <a:ln w="12700">
            <a:solidFill>
              <a:srgbClr val="0E9F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E9F9F">
              <a:alpha val="12000"/>
            </a:srgbClr>
          </a:solidFill>
          <a:ln w="12700">
            <a:solidFill>
              <a:srgbClr val="0E9F9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108960"/>
            <a:ext cx="2560320" cy="2560320"/>
          </a:xfrm>
          <a:prstGeom prst="ellipse">
            <a:avLst/>
          </a:prstGeom>
          <a:solidFill>
            <a:srgbClr val="0E9F9F">
              <a:alpha val="12000"/>
            </a:srgbClr>
          </a:solidFill>
          <a:ln w="12700">
            <a:solidFill>
              <a:srgbClr val="0E9F9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Our Customers.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Our Revenue.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C8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approach to reducing customer churn.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400" b="1" dirty="0">
                <a:solidFill>
                  <a:srgbClr val="AA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9F9F"/>
          </a:solidFill>
          <a:ln w="12700">
            <a:solidFill>
              <a:srgbClr val="0E9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We Lose Customers We Could Have Kept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3200400" cy="35661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54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6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274320" y="2651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leaves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566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16% annual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across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customers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12344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Costs Us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840480" y="1719072"/>
            <a:ext cx="5029200" cy="749808"/>
          </a:xfrm>
          <a:prstGeom prst="rect">
            <a:avLst/>
          </a:prstGeom>
          <a:solidFill>
            <a:srgbClr val="F4F7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883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34840" y="1783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Fee &amp; Interest Income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20848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churned customer takes their deposits, credit card spend, and loan payments elsewhere.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0" y="2587752"/>
            <a:ext cx="5029200" cy="749808"/>
          </a:xfrm>
          <a:prstGeom prst="rect">
            <a:avLst/>
          </a:prstGeom>
          <a:solidFill>
            <a:srgbClr val="F4F7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752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📣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34840" y="26517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to Replace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34840" y="29535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a new customer costs 5–7× more than keeping an existing one.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0" y="3456432"/>
            <a:ext cx="5029200" cy="749808"/>
          </a:xfrm>
          <a:prstGeom prst="rect">
            <a:avLst/>
          </a:prstGeom>
          <a:solidFill>
            <a:srgbClr val="F4F7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3621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34840" y="35204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Tell Others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34840" y="38221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Unhappy customers share their experience. One lost customer can influence others.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0" y="4325112"/>
            <a:ext cx="5029200" cy="749808"/>
          </a:xfrm>
          <a:prstGeom prst="rect">
            <a:avLst/>
          </a:prstGeom>
          <a:solidFill>
            <a:srgbClr val="F4F7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4489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434840" y="43891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Find Out Too Late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34840" y="46908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we notice, the customer has already moved 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9F9F"/>
          </a:solidFill>
          <a:ln w="12700">
            <a:solidFill>
              <a:srgbClr val="0E9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LEAVING?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Churning Customers Share Clear Warning Signs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206240" cy="8229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Stopped Using Their Card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2130552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barely swipe their card are disengaged. Low activity is the strongest signal they're about to leave.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34440"/>
            <a:ext cx="4206240" cy="8229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898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Spending Dropped Sharply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2130552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customer's monthly spend falls significantly compared to last year, they're likely moving activity to another bank.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108960"/>
            <a:ext cx="4206240" cy="8229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644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" y="36576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Only Have One Product With Us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" y="4005072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just a checking account have little reason to stay. The more products they hold, the more loyal they are.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1089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108960"/>
            <a:ext cx="4206240" cy="822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2644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36576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Called Us — But Left Frustrated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46320" y="4005072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contacted support multiple times without resolution are at high risk. Unresolved issues drive churn.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9F9F"/>
          </a:solidFill>
          <a:ln w="12700">
            <a:solidFill>
              <a:srgbClr val="0E9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Who Is About to Leave — Before They 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system that analyzes every customer's behavior each month and flags those at risk of leaving — giving us time to act.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560320" cy="3017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508760" y="2633472"/>
            <a:ext cx="457200" cy="457200"/>
          </a:xfrm>
          <a:prstGeom prst="ellipse">
            <a:avLst/>
          </a:prstGeom>
          <a:solidFill>
            <a:srgbClr val="0E9F9F"/>
          </a:solidFill>
          <a:ln w="12700">
            <a:solidFill>
              <a:srgbClr val="0E9F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8587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 at each customer's transactions, spending, and engagement patterns every month.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35808" y="3017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46120" y="1828800"/>
            <a:ext cx="2560320" cy="3017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4297680" y="2633472"/>
            <a:ext cx="457200" cy="457200"/>
          </a:xfrm>
          <a:prstGeom prst="ellipse">
            <a:avLst/>
          </a:prstGeom>
          <a:solidFill>
            <a:srgbClr val="0E9F9F"/>
          </a:solidFill>
          <a:ln w="12700">
            <a:solidFill>
              <a:srgbClr val="0E9F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3200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38587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showing warning signs are automatically flagged as Low, Medium, or High risk.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24728" y="3017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035040" y="1828800"/>
            <a:ext cx="2560320" cy="3017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7086600" y="2633472"/>
            <a:ext cx="457200" cy="457200"/>
          </a:xfrm>
          <a:prstGeom prst="ellipse">
            <a:avLst/>
          </a:prstGeom>
          <a:solidFill>
            <a:srgbClr val="0E9F9F"/>
          </a:solidFill>
          <a:ln w="12700">
            <a:solidFill>
              <a:srgbClr val="0E9F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3200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72200" y="38587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contacts high-risk customers with a personal offer before they decide to leave.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9F9F"/>
          </a:solidFill>
          <a:ln w="12700">
            <a:solidFill>
              <a:srgbClr val="0E9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Works — With High Confidence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test this on real customer data, here is how accurately it identifies who is about to leave: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1965960" cy="91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202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out of 100 customers are correctly classified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3160" y="169164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691640"/>
            <a:ext cx="1965960" cy="914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9202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496312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32004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flag someone as at-risk, we're right 95% of the time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69164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691640"/>
            <a:ext cx="1965960" cy="91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9202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645152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32004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catch 94% of customers who would actually leave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20840" y="169164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1691640"/>
            <a:ext cx="1965960" cy="91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9202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793992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2280" y="32004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ability to separate loyal from at-risk customers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389120"/>
            <a:ext cx="859536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1655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 plain terms: if the system flags 100 customers, ~95 of them genuinely need our attention — and we catch almost everyone at risk.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F9F"/>
          </a:solidFill>
          <a:ln w="12700">
            <a:solidFill>
              <a:srgbClr val="0E9F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0E9F9F">
              <a:alpha val="12000"/>
            </a:srgbClr>
          </a:solidFill>
          <a:ln w="12700">
            <a:solidFill>
              <a:srgbClr val="0E9F9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Early Action Is Worth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743200" cy="1600200"/>
          </a:xfrm>
          <a:prstGeom prst="rect">
            <a:avLst/>
          </a:prstGeom>
          <a:solidFill>
            <a:srgbClr val="1E3554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8653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More Revenue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3113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even 20% of at-risk customers can recover millions in annual revenue that would otherwise be lost.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298448"/>
            <a:ext cx="2743200" cy="1600200"/>
          </a:xfrm>
          <a:prstGeom prst="rect">
            <a:avLst/>
          </a:prstGeom>
          <a:solidFill>
            <a:srgbClr val="1E3554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📣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18653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Acquisition Cost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23113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retained customer is one less expensive acquisition campaign. Retention is always cheaper than recruitment.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298448"/>
            <a:ext cx="2743200" cy="1600200"/>
          </a:xfrm>
          <a:prstGeom prst="rect">
            <a:avLst/>
          </a:prstGeom>
          <a:solidFill>
            <a:srgbClr val="1E3554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18653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Loyalty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223113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timely, personal outreach — before a customer leaves — turns a frustrated customer into a loyal advocate.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081528"/>
            <a:ext cx="2743200" cy="1600200"/>
          </a:xfrm>
          <a:prstGeom prst="rect">
            <a:avLst/>
          </a:prstGeom>
          <a:solidFill>
            <a:srgbClr val="1E3554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2920" y="36484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Customer Lifetime Value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0142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customers tend to take on more products over time, compounding their value to the bank.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3081528"/>
            <a:ext cx="2743200" cy="1600200"/>
          </a:xfrm>
          <a:prstGeom prst="rect">
            <a:avLst/>
          </a:prstGeom>
          <a:solidFill>
            <a:srgbClr val="1E3554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383280" y="36484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Not Reactive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40142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stop firefighting and start predicting. The bank acts early, not after the customer has already left.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3081528"/>
            <a:ext cx="2743200" cy="1600200"/>
          </a:xfrm>
          <a:prstGeom prst="rect">
            <a:avLst/>
          </a:prstGeom>
          <a:solidFill>
            <a:srgbClr val="1E3554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63640" y="36484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40142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that predict churn outperform those that don't. This is now a standard tool at top-tier institutions.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9F9F"/>
          </a:solidFill>
          <a:ln w="12700">
            <a:solidFill>
              <a:srgbClr val="0E9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Retention — The Right Offer to the Right Customer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at-risk customer needs the same response. We tailor our action to the risk level: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743200" cy="3246120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91640"/>
            <a:ext cx="27432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105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Low Risk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Stay engaged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624328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06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personalized email or app notification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300984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826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unused benefits or features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97764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593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to a loyalty rewards program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54680" y="1691640"/>
            <a:ext cx="2743200" cy="3246120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1691640"/>
            <a:ext cx="27432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8105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Medium Risk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Re-engage now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624328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606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fee waiver or cashback bonus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0" y="3300984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2826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 product that fits their profile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3977640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9593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to a branch visit or financial review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1691640"/>
            <a:ext cx="2743200" cy="3246120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1691640"/>
            <a:ext cx="27432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8105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High Risk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220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Act immediately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2624328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2606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call from a relationship manager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72200" y="3300984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32826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retention offer (rate upgrade, bonus)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397764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39593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resolution of any open complaints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9F9F"/>
          </a:solidFill>
          <a:ln w="12700">
            <a:solidFill>
              <a:srgbClr val="0E9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Dashboard — No Technical Knowledge Needed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has a live tool to check any customer's churn risk in seconds.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47548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45920"/>
            <a:ext cx="4754880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916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Customer Churn Risk 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4389120" cy="594360"/>
          </a:xfrm>
          <a:prstGeom prst="rect">
            <a:avLst/>
          </a:prstGeom>
          <a:solidFill>
            <a:srgbClr val="F4F7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04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Sarah M. — Account #7821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5786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Checking  |  Customer since 2018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389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99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2990088"/>
            <a:ext cx="1371600" cy="32918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990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78%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38728"/>
            <a:ext cx="4389120" cy="1325880"/>
          </a:xfrm>
          <a:prstGeom prst="rect">
            <a:avLst/>
          </a:prstGeom>
          <a:solidFill>
            <a:srgbClr val="FFF4F4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Recommended Action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91363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call from a Relationship Manager within 48 hours. Offer a rate upgrade on savings or waive annual card fee. Flag open complaint from March.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0" y="1664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Team Gets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03520" y="2176272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76672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06440" y="22677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customer's risk score at a glance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0" y="2770632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76672" y="2843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06440" y="28620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recommended action — no guesswork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3364992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76672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06440" y="34564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daily list of who to contact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0" y="3959352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76672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📲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06440" y="40507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desktop, tablet, and mobile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0" y="4553712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76672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06440" y="46451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automatically every month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9F9F"/>
          </a:solidFill>
          <a:ln w="12700">
            <a:solidFill>
              <a:srgbClr val="0E9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We Should Do Now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8595360" cy="1115568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98448"/>
            <a:ext cx="73152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18488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3898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Monthly At-Risk Customer List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7556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month, share the top 200 highest-risk customers with Relationship Managers. Each manager should reach out personally within one week.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720840" y="1645920"/>
            <a:ext cx="201168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645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Reduce high-risk churn by 30% in 6 months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8595360" cy="1115568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60320"/>
            <a:ext cx="73152" cy="111556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880360"/>
            <a:ext cx="502920" cy="50292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2651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Dedicated Retention Offer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01752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two or three tailored retention incentives (fee waiver, rate upgrade, bonus points) that managers can offer without escalation approval.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20840" y="2907792"/>
            <a:ext cx="2011680" cy="4114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29077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Cut approval time from 5 days to same-day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822192"/>
            <a:ext cx="8595360" cy="1115568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822192"/>
            <a:ext cx="73152" cy="11155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142232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3913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Report Retention Monthly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27939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many at-risk customers we successfully retained each month. Share results at the monthly leadership review so we can see what's working.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20840" y="4169664"/>
            <a:ext cx="201168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416966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Full visibility into retention ROI by Q3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F9F"/>
          </a:solidFill>
          <a:ln w="12700">
            <a:solidFill>
              <a:srgbClr val="0E9F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E9F9F">
              <a:alpha val="12000"/>
            </a:srgbClr>
          </a:solidFill>
          <a:ln w="12700">
            <a:solidFill>
              <a:srgbClr val="0E9F9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6217920" cy="548640"/>
          </a:xfrm>
          <a:prstGeom prst="rect">
            <a:avLst/>
          </a:prstGeom>
          <a:solidFill>
            <a:srgbClr val="1E3554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who is likely to leave — before they 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6217920" cy="548640"/>
          </a:xfrm>
          <a:prstGeom prst="rect">
            <a:avLst/>
          </a:prstGeom>
          <a:solidFill>
            <a:srgbClr val="1E3554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214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1214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 clear, simple way to act on that information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6217920" cy="548640"/>
          </a:xfrm>
          <a:prstGeom prst="rect">
            <a:avLst/>
          </a:prstGeom>
          <a:solidFill>
            <a:srgbClr val="1E3554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7977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77977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retention is far cheaper than acquiring new customers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46704"/>
            <a:ext cx="6217920" cy="548640"/>
          </a:xfrm>
          <a:prstGeom prst="rect">
            <a:avLst/>
          </a:prstGeom>
          <a:solidFill>
            <a:srgbClr val="1E3554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3814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43814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already proven — 97% accurate on real 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05072"/>
            <a:ext cx="6217920" cy="548640"/>
          </a:xfrm>
          <a:prstGeom prst="rect">
            <a:avLst/>
          </a:prstGeom>
          <a:solidFill>
            <a:srgbClr val="1E3554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9651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409651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just need to make it part of our monthly workflow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645152"/>
            <a:ext cx="8412480" cy="347472"/>
          </a:xfrm>
          <a:prstGeom prst="rect">
            <a:avLst/>
          </a:prstGeom>
          <a:solidFill>
            <a:srgbClr val="0E9F9F"/>
          </a:solidFill>
          <a:ln w="12700">
            <a:solidFill>
              <a:srgbClr val="0E9F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45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time to save a customer is before they decide to leave.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2026-04-19T19:29:22Z</dcterms:created>
  <dcterms:modified xsi:type="dcterms:W3CDTF">2026-04-19T19:29:22Z</dcterms:modified>
</cp:coreProperties>
</file>